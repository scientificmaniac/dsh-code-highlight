
<file path=[Content_Types].xml><?xml version="1.0" encoding="utf-8"?>
<Types xmlns="http://schemas.openxmlformats.org/package/2006/content-types">
  <Default Extension="bmp" ContentType="image/bmp"/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webp" ContentType="image/webp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92024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subtitle"/>
          <p:cNvSpPr/>
          <p:nvPr>
            <p:ph type="subTitle"/>
          </p:nvPr>
        </p:nvSpPr>
        <p:spPr>
          <a:xfrm>
            <a:off x="609600" y="339344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"/>
          <p:cNvSpPr/>
          <p:nvPr>
            <p:ph type="body"/>
          </p:nvPr>
        </p:nvSpPr>
        <p:spPr>
          <a:xfrm>
            <a:off x="609600" y="1625600"/>
            <a:ext cx="109728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center-title"/>
          <p:cNvSpPr/>
          <p:nvPr>
            <p:ph type="ctrTitle"/>
          </p:nvPr>
        </p:nvSpPr>
        <p:spPr>
          <a:xfrm>
            <a:off x="609600" y="17145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"/>
          <p:cNvSpPr/>
          <p:nvPr>
            <p:ph type="body"/>
          </p:nvPr>
        </p:nvSpPr>
        <p:spPr>
          <a:xfrm>
            <a:off x="609600" y="31877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body-left"/>
          <p:cNvSpPr/>
          <p:nvPr>
            <p:ph type="body" idx="1"/>
          </p:nvPr>
        </p:nvSpPr>
        <p:spPr>
          <a:xfrm>
            <a:off x="6096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body-right"/>
          <p:cNvSpPr/>
          <p:nvPr>
            <p:ph type="body" idx="2"/>
          </p:nvPr>
        </p:nvSpPr>
        <p:spPr>
          <a:xfrm>
            <a:off x="6223000" y="1625600"/>
            <a:ext cx="5359400" cy="4826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text-left"/>
          <p:cNvSpPr/>
          <p:nvPr>
            <p:ph type="body" idx="1"/>
          </p:nvPr>
        </p:nvSpPr>
        <p:spPr>
          <a:xfrm>
            <a:off x="6096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4" name="ph-text-right"/>
          <p:cNvSpPr/>
          <p:nvPr>
            <p:ph type="body" idx="2"/>
          </p:nvPr>
        </p:nvSpPr>
        <p:spPr>
          <a:xfrm>
            <a:off x="6223000" y="1625600"/>
            <a:ext cx="5359400" cy="5080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5" name="ph-body-left"/>
          <p:cNvSpPr/>
          <p:nvPr>
            <p:ph type="body" idx="1"/>
          </p:nvPr>
        </p:nvSpPr>
        <p:spPr>
          <a:xfrm>
            <a:off x="6096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6" name="ph-body-right"/>
          <p:cNvSpPr/>
          <p:nvPr>
            <p:ph type="body" idx="2"/>
          </p:nvPr>
        </p:nvSpPr>
        <p:spPr>
          <a:xfrm>
            <a:off x="6223000" y="2235200"/>
            <a:ext cx="5359400" cy="421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title"/>
          <p:cNvSpPr/>
          <p:nvPr>
            <p:ph type="title"/>
          </p:nvPr>
        </p:nvSpPr>
        <p:spPr>
          <a:xfrm>
            <a:off x="609600" y="406400"/>
            <a:ext cx="10972800" cy="965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h-picture"/>
          <p:cNvSpPr/>
          <p:nvPr>
            <p:ph type="pic"/>
          </p:nvPr>
        </p:nvSpPr>
        <p:spPr>
          <a:xfrm>
            <a:off x="609600" y="406400"/>
            <a:ext cx="10972800" cy="49276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  <p:sp>
        <p:nvSpPr>
          <p:cNvPr id="3" name="ph-caption"/>
          <p:cNvSpPr/>
          <p:nvPr>
            <p:ph type="body"/>
          </p:nvPr>
        </p:nvSpPr>
        <p:spPr>
          <a:xfrm>
            <a:off x="609600" y="5537200"/>
            <a:ext cx="10972800" cy="7112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2C34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3" name="roundRect 1"/>
          <p:cNvSpPr/>
          <p:nvPr/>
        </p:nvSpPr>
        <p:spPr>
          <a:xfrm>
            <a:off x="2825750" y="1517650"/>
            <a:ext cx="6540500" cy="3835400"/>
          </a:xfrm>
          <a:prstGeom prst="roundRect">
            <a:avLst>
              <a:gd fmla="val 2649" name="adj"/>
            </a:avLst>
          </a:prstGeom>
          <a:solidFill>
            <a:srgbClr val="282C34"/>
          </a:solidFill>
          <a:ln w="12700">
            <a:solidFill>
              <a:srgbClr val="3B4048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Rect 2"/>
          <p:cNvSpPr/>
          <p:nvPr/>
        </p:nvSpPr>
        <p:spPr>
          <a:xfrm>
            <a:off x="2825750" y="1517650"/>
            <a:ext cx="6540500" cy="406400"/>
          </a:xfrm>
          <a:prstGeom prst="roundRect">
            <a:avLst>
              <a:gd fmla="val 25000" name="adj"/>
            </a:avLst>
          </a:prstGeom>
          <a:solidFill>
            <a:srgbClr val="21252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 2"/>
          <p:cNvSpPr/>
          <p:nvPr/>
        </p:nvSpPr>
        <p:spPr>
          <a:xfrm>
            <a:off x="2825750" y="1816100"/>
            <a:ext cx="6540500" cy="101600"/>
          </a:xfrm>
          <a:prstGeom prst="rect">
            <a:avLst/>
          </a:prstGeom>
          <a:solidFill>
            <a:srgbClr val="21252B"/>
          </a:solidFill>
          <a:ln>
            <a:noFill/>
          </a:ln>
        </p:spPr>
        <p:txBody>
          <a:bodyPr/>
          <a:lstStyle/>
          <a:p>
            <a:pPr>
              <a:lnSpc>
                <a:spcPct val="100000"/>
              </a:lnSpc>
              <a:buNone/>
            </a:pP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6" name="rect 3"/>
          <p:cNvSpPr/>
          <p:nvPr/>
        </p:nvSpPr>
        <p:spPr>
          <a:xfrm>
            <a:off x="3048000" y="1612900"/>
            <a:ext cx="977900" cy="2159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99000"/>
              </a:lnSpc>
              <a:buNone/>
            </a:pPr>
            <a:r>
              <a:rPr lang="en-US" sz="14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report.py</a:t>
            </a:r>
          </a:p>
        </p:txBody>
      </p:sp>
      <p:sp>
        <p:nvSpPr>
          <p:cNvPr id="7" name="rect 4"/>
          <p:cNvSpPr/>
          <p:nvPr/>
        </p:nvSpPr>
        <p:spPr>
          <a:xfrm>
            <a:off x="3124200" y="21717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1</a:t>
            </a:r>
          </a:p>
        </p:txBody>
      </p:sp>
      <p:sp>
        <p:nvSpPr>
          <p:cNvPr id="8" name="rect 5"/>
          <p:cNvSpPr/>
          <p:nvPr/>
        </p:nvSpPr>
        <p:spPr>
          <a:xfrm>
            <a:off x="3505200" y="2171700"/>
            <a:ext cx="1257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import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json</a:t>
            </a:r>
          </a:p>
        </p:txBody>
      </p:sp>
      <p:sp>
        <p:nvSpPr>
          <p:cNvPr id="9" name="rect 6"/>
          <p:cNvSpPr/>
          <p:nvPr/>
        </p:nvSpPr>
        <p:spPr>
          <a:xfrm>
            <a:off x="3124200" y="24638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2</a:t>
            </a:r>
          </a:p>
        </p:txBody>
      </p:sp>
      <p:sp>
        <p:nvSpPr>
          <p:cNvPr id="10" name="rect 7"/>
          <p:cNvSpPr/>
          <p:nvPr/>
        </p:nvSpPr>
        <p:spPr>
          <a:xfrm>
            <a:off x="3505200" y="2463800"/>
            <a:ext cx="2616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from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pathlib </a:t>
            </a: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import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</a:t>
            </a:r>
            <a:r>
              <a:rPr lang="en-US" sz="1500">
                <a:solidFill>
                  <a:srgbClr val="E5C07B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Path</a:t>
            </a:r>
          </a:p>
        </p:txBody>
      </p:sp>
      <p:sp>
        <p:nvSpPr>
          <p:cNvPr id="11" name="rect 8"/>
          <p:cNvSpPr/>
          <p:nvPr/>
        </p:nvSpPr>
        <p:spPr>
          <a:xfrm>
            <a:off x="3124200" y="27559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3</a:t>
            </a:r>
          </a:p>
        </p:txBody>
      </p:sp>
      <p:sp>
        <p:nvSpPr>
          <p:cNvPr id="12" name="rect 9"/>
          <p:cNvSpPr/>
          <p:nvPr/>
        </p:nvSpPr>
        <p:spPr>
          <a:xfrm>
            <a:off x="3124200" y="30480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4</a:t>
            </a:r>
          </a:p>
        </p:txBody>
      </p:sp>
      <p:sp>
        <p:nvSpPr>
          <p:cNvPr id="13" name="rect 10"/>
          <p:cNvSpPr/>
          <p:nvPr/>
        </p:nvSpPr>
        <p:spPr>
          <a:xfrm>
            <a:off x="3124200" y="33401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5</a:t>
            </a:r>
          </a:p>
        </p:txBody>
      </p:sp>
      <p:sp>
        <p:nvSpPr>
          <p:cNvPr id="14" name="rect 11"/>
          <p:cNvSpPr/>
          <p:nvPr/>
        </p:nvSpPr>
        <p:spPr>
          <a:xfrm>
            <a:off x="3505200" y="3340100"/>
            <a:ext cx="3873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def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</a:t>
            </a:r>
            <a:r>
              <a:rPr lang="en-US" sz="1500">
                <a:solidFill>
                  <a:srgbClr val="61AFE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load_report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(path</a:t>
            </a:r>
            <a:r>
              <a:rPr lang="en-US" sz="1500">
                <a:solidFill>
                  <a:srgbClr val="56B6C2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: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</a:t>
            </a:r>
            <a:r>
              <a:rPr lang="en-US" sz="1500">
                <a:solidFill>
                  <a:srgbClr val="E5C07B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Path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) </a:t>
            </a:r>
            <a:r>
              <a:rPr lang="en-US" sz="1500">
                <a:solidFill>
                  <a:srgbClr val="56B6C2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-&gt;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</a:t>
            </a:r>
            <a:r>
              <a:rPr lang="en-US" sz="1500">
                <a:solidFill>
                  <a:srgbClr val="E5C07B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dict</a:t>
            </a:r>
            <a:r>
              <a:rPr lang="en-US" sz="1500">
                <a:solidFill>
                  <a:srgbClr val="56B6C2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:</a:t>
            </a:r>
          </a:p>
        </p:txBody>
      </p:sp>
      <p:sp>
        <p:nvSpPr>
          <p:cNvPr id="15" name="rect 12"/>
          <p:cNvSpPr/>
          <p:nvPr/>
        </p:nvSpPr>
        <p:spPr>
          <a:xfrm>
            <a:off x="3124200" y="36322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6</a:t>
            </a:r>
          </a:p>
        </p:txBody>
      </p:sp>
      <p:sp>
        <p:nvSpPr>
          <p:cNvPr id="16" name="rect 13"/>
          <p:cNvSpPr/>
          <p:nvPr/>
        </p:nvSpPr>
        <p:spPr>
          <a:xfrm>
            <a:off x="3505200" y="3632200"/>
            <a:ext cx="2984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   </a:t>
            </a:r>
            <a:r>
              <a:rPr lang="zh-CN" sz="1500">
                <a:solidFill>
                  <a:srgbClr val="98C379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"""读取季度报告数据。"""</a:t>
            </a:r>
          </a:p>
        </p:txBody>
      </p:sp>
      <p:sp>
        <p:nvSpPr>
          <p:cNvPr id="17" name="rect 14"/>
          <p:cNvSpPr/>
          <p:nvPr/>
        </p:nvSpPr>
        <p:spPr>
          <a:xfrm>
            <a:off x="3124200" y="39243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7</a:t>
            </a:r>
          </a:p>
        </p:txBody>
      </p:sp>
      <p:sp>
        <p:nvSpPr>
          <p:cNvPr id="18" name="rect 15"/>
          <p:cNvSpPr/>
          <p:nvPr/>
        </p:nvSpPr>
        <p:spPr>
          <a:xfrm>
            <a:off x="3505200" y="3924300"/>
            <a:ext cx="49149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   data </a:t>
            </a:r>
            <a:r>
              <a:rPr lang="en-US" sz="1500">
                <a:solidFill>
                  <a:srgbClr val="56B6C2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=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json.</a:t>
            </a:r>
            <a:r>
              <a:rPr lang="en-US" sz="1500">
                <a:solidFill>
                  <a:srgbClr val="61AFE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loads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(path.</a:t>
            </a:r>
            <a:r>
              <a:rPr lang="en-US" sz="1500">
                <a:solidFill>
                  <a:srgbClr val="61AFE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read_text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(</a:t>
            </a:r>
            <a:r>
              <a:rPr lang="en-US" sz="1500">
                <a:solidFill>
                  <a:srgbClr val="98C379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"utf-8"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))</a:t>
            </a:r>
          </a:p>
        </p:txBody>
      </p:sp>
      <p:sp>
        <p:nvSpPr>
          <p:cNvPr id="19" name="rect 16"/>
          <p:cNvSpPr/>
          <p:nvPr/>
        </p:nvSpPr>
        <p:spPr>
          <a:xfrm>
            <a:off x="3124200" y="42164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8</a:t>
            </a:r>
          </a:p>
        </p:txBody>
      </p:sp>
      <p:sp>
        <p:nvSpPr>
          <p:cNvPr id="20" name="rect 17"/>
          <p:cNvSpPr/>
          <p:nvPr/>
        </p:nvSpPr>
        <p:spPr>
          <a:xfrm>
            <a:off x="3505200" y="4216400"/>
            <a:ext cx="30353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   </a:t>
            </a: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if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</a:t>
            </a: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not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data.</a:t>
            </a:r>
            <a:r>
              <a:rPr lang="en-US" sz="1500">
                <a:solidFill>
                  <a:srgbClr val="61AFE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get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(</a:t>
            </a:r>
            <a:r>
              <a:rPr lang="en-US" sz="1500">
                <a:solidFill>
                  <a:srgbClr val="98C379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"rows"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)</a:t>
            </a:r>
            <a:r>
              <a:rPr lang="en-US" sz="1500">
                <a:solidFill>
                  <a:srgbClr val="56B6C2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:</a:t>
            </a:r>
          </a:p>
        </p:txBody>
      </p:sp>
      <p:sp>
        <p:nvSpPr>
          <p:cNvPr id="21" name="rect 18"/>
          <p:cNvSpPr/>
          <p:nvPr/>
        </p:nvSpPr>
        <p:spPr>
          <a:xfrm>
            <a:off x="3124200" y="4508500"/>
            <a:ext cx="2032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9</a:t>
            </a:r>
          </a:p>
        </p:txBody>
      </p:sp>
      <p:sp>
        <p:nvSpPr>
          <p:cNvPr id="22" name="rect 19"/>
          <p:cNvSpPr/>
          <p:nvPr/>
        </p:nvSpPr>
        <p:spPr>
          <a:xfrm>
            <a:off x="3505200" y="4508500"/>
            <a:ext cx="38481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       </a:t>
            </a: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raise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</a:t>
            </a:r>
            <a:r>
              <a:rPr lang="en-US" sz="1500">
                <a:solidFill>
                  <a:srgbClr val="61AFE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ValueError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(</a:t>
            </a:r>
            <a:r>
              <a:rPr lang="zh-CN" sz="1500">
                <a:solidFill>
                  <a:srgbClr val="98C379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"报告为空"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)</a:t>
            </a:r>
          </a:p>
        </p:txBody>
      </p:sp>
      <p:sp>
        <p:nvSpPr>
          <p:cNvPr id="23" name="rect 20"/>
          <p:cNvSpPr/>
          <p:nvPr/>
        </p:nvSpPr>
        <p:spPr>
          <a:xfrm>
            <a:off x="3009900" y="4800600"/>
            <a:ext cx="3175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500">
                <a:solidFill>
                  <a:srgbClr val="5C6370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10</a:t>
            </a:r>
          </a:p>
        </p:txBody>
      </p:sp>
      <p:sp>
        <p:nvSpPr>
          <p:cNvPr id="24" name="rect 21"/>
          <p:cNvSpPr/>
          <p:nvPr/>
        </p:nvSpPr>
        <p:spPr>
          <a:xfrm>
            <a:off x="3505200" y="4800600"/>
            <a:ext cx="1676400" cy="228600"/>
          </a:xfrm>
          <a:prstGeom prst="rect">
            <a:avLst/>
          </a:prstGeom>
          <a:noFill/>
          <a:ln w="19050">
            <a:solidFill>
              <a:srgbClr val="44546A">
                <a:alpha val="0"/>
              </a:srgbClr>
            </a:solidFill>
          </a:ln>
        </p:spPr>
        <p:txBody>
          <a:bodyPr wrap="none" lIns="0" tIns="0" rIns="0" bIns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   </a:t>
            </a:r>
            <a:r>
              <a:rPr lang="en-US" sz="1500">
                <a:solidFill>
                  <a:srgbClr val="C678DD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return</a:t>
            </a:r>
            <a:r>
              <a:rPr lang="en-US" sz="1500">
                <a:solidFill>
                  <a:srgbClr val="ABB2BF"/>
                </a:solidFill>
                <a:latin typeface="ui-monospace"/>
                <a:ea typeface="SFMono-Regular"/>
                <a:extLst>
                  <a:ext uri="https://univer.ai/xml/pptx/font-fallback/2026/main">
                    <uf:fontFallback xmlns:uf="https://univer.ai/xml/pptx/font-fallback/2026/main" family="ui-monospace, SFMono-Regular, 'SF Mono', Menlo, Consolas, 'Liberation Mono', 'Courier New', monospace" latin="ui-monospace" ea="SFMono-Regular" sym=""/>
                  </a:ext>
                </a:extLst>
              </a:rPr>
              <a:t>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/>
            </a:gs>
            <a:gs pos="100000">
              <a:schemeClr val="phClr"/>
            </a:gs>
          </a:gsLst>
          <a:lin ang="5400000" scaled="0"/>
        </a:gradFill>
        <a:solidFill>
          <a:schemeClr val="phClr"/>
        </a:solidFill>
      </a:fillStyleLst>
      <a:lnStyleLst>
        <a:ln w="12700">
          <a:solidFill>
            <a:srgbClr val="4472C4">
              <a:alpha val="100000"/>
            </a:srgbClr>
          </a:solidFill>
        </a:ln>
        <a:ln w="19050">
          <a:solidFill>
            <a:srgbClr val="44546A">
              <a:alpha val="100000"/>
            </a:srgbClr>
          </a:solidFill>
        </a:ln>
        <a:ln w="28575">
          <a:solidFill>
            <a:srgbClr val="000000">
              <a:alpha val="100000"/>
            </a:srgbClr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1" baseType="lpstr">
      <vt:lpstr>Code Highlight</vt:lpstr>
    </vt:vector>
  </TitlesOfParts>
  <Company>Univer.ai</Company>
  <LinksUpToDate>false</LinksUpToDate>
  <SharedDoc>false</SharedDoc>
  <HyperlinksChanged>false</HyperlinksChanged>
  <AppVersion>16.0300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 Highlight</dc:title>
  <dc:creator>Univer.ai</dc:creator>
  <cp:lastModifiedBy>Univer.ai</cp:lastModifiedBy>
  <dcterms:created xsi:type="dcterms:W3CDTF">2026-01-01T00:00:00Z</dcterms:created>
  <dcterms:modified xsi:type="dcterms:W3CDTF">2026-01-01T00:00:00Z</dcterms:modified>
</cp:coreProperties>
</file>